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6" r:id="rId5"/>
    <p:sldId id="267" r:id="rId6"/>
    <p:sldId id="260" r:id="rId7"/>
    <p:sldId id="261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557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756610"/>
            <a:ext cx="8229600" cy="36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4B8A6"/>
                </a:solidFill>
              </a:rPr>
              <a:t>HCL HACKATHON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033336"/>
            <a:ext cx="8366760" cy="801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FINTRACKER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Smart Expense Categorization &amp; Personal Finance Insight Platform  |  HCL Hackathon  |  6 Hours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Team Leader: Muskan Aggarwal   |   Duration: 5 Hours   |   Team Size: 4 Members</a:t>
            </a:r>
            <a:endParaRPr 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A75EAF-CDD9-3FE3-1503-75B2FC66C7D9}"/>
              </a:ext>
            </a:extLst>
          </p:cNvPr>
          <p:cNvSpPr txBox="1"/>
          <p:nvPr/>
        </p:nvSpPr>
        <p:spPr>
          <a:xfrm>
            <a:off x="548640" y="3154680"/>
            <a:ext cx="8294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94A3B8"/>
                </a:solidFill>
              </a:rPr>
              <a:t>Muskan Aggarwal  ·  Shikhar Srivastava  ·  Priyanshu Singhal  ·  </a:t>
            </a:r>
            <a:r>
              <a:rPr lang="en-US" sz="1200" dirty="0" err="1">
                <a:solidFill>
                  <a:srgbClr val="94A3B8"/>
                </a:solidFill>
              </a:rPr>
              <a:t>Madhvendra</a:t>
            </a:r>
            <a:r>
              <a:rPr lang="en-US" sz="1200" dirty="0">
                <a:solidFill>
                  <a:srgbClr val="94A3B8"/>
                </a:solidFill>
              </a:rPr>
              <a:t> Rao</a:t>
            </a:r>
            <a:endParaRPr lang="en-US" sz="1200" dirty="0"/>
          </a:p>
          <a:p>
            <a:pPr algn="ctr"/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MEET THE TEAM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19659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196596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7532" y="1325880"/>
            <a:ext cx="768096" cy="7680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7532" y="13258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" y="21762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Muskan Aggarwal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706624"/>
            <a:ext cx="16916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706624"/>
            <a:ext cx="1691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Team Leader &amp; Database Handling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8328" y="3145536"/>
            <a:ext cx="1746504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/>
            <a:r>
              <a:rPr lang="en-US" sz="950" dirty="0">
                <a:solidFill>
                  <a:srgbClr val="475569"/>
                </a:solidFill>
              </a:rPr>
              <a:t>Oversees project delivery, Builds relational schema,</a:t>
            </a:r>
            <a:endParaRPr lang="en-US" sz="950" dirty="0"/>
          </a:p>
          <a:p>
            <a:pPr algn="ctr"/>
            <a:r>
              <a:rPr lang="en-US" sz="950" dirty="0">
                <a:solidFill>
                  <a:srgbClr val="475569"/>
                </a:solidFill>
              </a:rPr>
              <a:t>ER design &amp; manages RDBMS</a:t>
            </a:r>
            <a:endParaRPr lang="en-US" sz="950" dirty="0"/>
          </a:p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377440" y="1188720"/>
            <a:ext cx="19659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77440" y="1188720"/>
            <a:ext cx="196596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76372" y="1325880"/>
            <a:ext cx="768096" cy="7680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6372" y="13258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P</a:t>
            </a:r>
            <a:r>
              <a:rPr lang="en-US" sz="1800" b="1" dirty="0">
                <a:solidFill>
                  <a:srgbClr val="FFFFFF"/>
                </a:solidFill>
              </a:rPr>
              <a:t>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68880" y="21762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Priyanshu Singhal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14600" y="2706624"/>
            <a:ext cx="169164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06624"/>
            <a:ext cx="1691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Cleaning &amp; Categorization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487168" y="3145536"/>
            <a:ext cx="1746504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/>
            <a:r>
              <a:rPr lang="en-US" sz="950" dirty="0">
                <a:solidFill>
                  <a:srgbClr val="475569"/>
                </a:solidFill>
              </a:rPr>
              <a:t>Works on Data Cleaning like removing null values and categorized the values</a:t>
            </a:r>
            <a:endParaRPr lang="en-US" sz="950" dirty="0"/>
          </a:p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26280" y="1188720"/>
            <a:ext cx="19659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26280" y="1188720"/>
            <a:ext cx="196596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5212" y="1325880"/>
            <a:ext cx="768096" cy="7680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5212" y="13258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SS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17720" y="21762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Shikhar Srivastava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2706624"/>
            <a:ext cx="16916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706624"/>
            <a:ext cx="1691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Frontend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36008" y="3145536"/>
            <a:ext cx="1746504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/>
            <a:r>
              <a:rPr lang="en-US" sz="950" dirty="0">
                <a:solidFill>
                  <a:srgbClr val="475569"/>
                </a:solidFill>
              </a:rPr>
              <a:t>Develops the UI and works on the interactive interface</a:t>
            </a:r>
            <a:endParaRPr lang="en-US" sz="950" dirty="0"/>
          </a:p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675120" y="1188720"/>
            <a:ext cx="19659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75120" y="1188720"/>
            <a:ext cx="196596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74052" y="1325880"/>
            <a:ext cx="768096" cy="7680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74052" y="13258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MR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766560" y="21762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Madhevandra Rao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12280" y="2706624"/>
            <a:ext cx="16916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2706624"/>
            <a:ext cx="1691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Predictive Analytics &amp; Dashboard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84848" y="3145536"/>
            <a:ext cx="1746504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Builds predictive logic,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Matplotlib dashboard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manages GitHub submission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Build a Smart Expense Categorization &amp; Finance Insight Platform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011680"/>
            <a:ext cx="45720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116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0116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</a:rPr>
              <a:t>Upload &amp; parse CSV transactions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01168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2011680"/>
            <a:ext cx="45720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0116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20116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</a:rPr>
              <a:t>Categorize transactions with rule-based logic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16352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16352"/>
            <a:ext cx="45720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1635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8163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</a:rPr>
              <a:t>Calculate income, expenses &amp; category totals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816352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816352"/>
            <a:ext cx="45720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81635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28163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</a:rPr>
              <a:t>Generate financial summary reports via APIs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621024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621024"/>
            <a:ext cx="45720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62102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362102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</a:rPr>
              <a:t>Display insights on a reporting dashboard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621024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3621024"/>
            <a:ext cx="457200" cy="64008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62102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8A6"/>
                </a:solidFill>
              </a:rPr>
              <a:t>06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57800" y="362102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</a:rPr>
              <a:t>Submit code + demo walkthrough on GitHub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</p:sp>
      <p:sp>
        <p:nvSpPr>
          <p:cNvPr id="4" name="Title"/>
          <p:cNvSpPr/>
          <p:nvPr/>
        </p:nvSpPr>
        <p:spPr>
          <a:xfrm>
            <a:off x="54864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GOALS &amp; SUCCESS CRITERIA</a:t>
            </a:r>
          </a:p>
        </p:txBody>
      </p:sp>
      <p:sp>
        <p:nvSpPr>
          <p:cNvPr id="5" name="GoalsBg"/>
          <p:cNvSpPr/>
          <p:nvPr/>
        </p:nvSpPr>
        <p:spPr>
          <a:xfrm>
            <a:off x="365760" y="1143000"/>
            <a:ext cx="40233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</p:sp>
      <p:sp>
        <p:nvSpPr>
          <p:cNvPr id="6" name="GoalsBar"/>
          <p:cNvSpPr/>
          <p:nvPr/>
        </p:nvSpPr>
        <p:spPr>
          <a:xfrm>
            <a:off x="365760" y="1143000"/>
            <a:ext cx="73152" cy="3657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</p:sp>
      <p:sp>
        <p:nvSpPr>
          <p:cNvPr id="7" name="GoalsContent"/>
          <p:cNvSpPr/>
          <p:nvPr/>
        </p:nvSpPr>
        <p:spPr>
          <a:xfrm>
            <a:off x="511416" y="1188720"/>
            <a:ext cx="3840480" cy="3566880"/>
          </a:xfrm>
          <a:prstGeom prst="rect">
            <a:avLst/>
          </a:prstGeom>
          <a:noFill/>
          <a:ln/>
        </p:spPr>
        <p:txBody>
          <a:bodyPr wrap="square" lIns="0" tIns="9144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</a:rPr>
              <a:t>GOALS</a:t>
            </a:r>
          </a:p>
          <a:p>
            <a:pPr marL="0" indent="0">
              <a:buNone/>
            </a:pPr>
            <a:r>
              <a:rPr lang="en-US" sz="200" dirty="0">
                <a:solidFill>
                  <a:srgbClr val="FFFFFF"/>
                </a:solidFill>
              </a:rPr>
              <a:t> </a:t>
            </a:r>
          </a:p>
          <a:p>
            <a:pPr marL="228600" indent="-228600">
              <a:buChar char="▸"/>
            </a:pPr>
            <a:r>
              <a:rPr lang="en-US" sz="1100" dirty="0">
                <a:solidFill>
                  <a:srgbClr val="0A1628"/>
                </a:solidFill>
              </a:rPr>
              <a:t>Build a system that accepts CSV transactions</a:t>
            </a:r>
          </a:p>
          <a:p>
            <a:pPr marL="228600" indent="-228600">
              <a:buChar char="▸"/>
            </a:pPr>
            <a:r>
              <a:rPr lang="en-US" sz="1100" dirty="0">
                <a:solidFill>
                  <a:srgbClr val="0A1628"/>
                </a:solidFill>
              </a:rPr>
              <a:t>Categorize records using rule-based keyword logic</a:t>
            </a:r>
          </a:p>
          <a:p>
            <a:pPr marL="228600" indent="-228600">
              <a:buChar char="▸"/>
            </a:pPr>
            <a:r>
              <a:rPr lang="en-US" sz="1100" dirty="0">
                <a:solidFill>
                  <a:srgbClr val="0A1628"/>
                </a:solidFill>
              </a:rPr>
              <a:t>Display financial insights via APIs and UI</a:t>
            </a:r>
          </a:p>
          <a:p>
            <a:pPr marL="228600" indent="-228600">
              <a:buChar char="▸"/>
            </a:pPr>
            <a:r>
              <a:rPr lang="en-US" sz="1100" dirty="0">
                <a:solidFill>
                  <a:srgbClr val="0A1628"/>
                </a:solidFill>
              </a:rPr>
              <a:t>Include data storage, processing logic &amp; simple UI</a:t>
            </a:r>
          </a:p>
        </p:txBody>
      </p:sp>
      <p:sp>
        <p:nvSpPr>
          <p:cNvPr id="8" name="MetricsBg"/>
          <p:cNvSpPr/>
          <p:nvPr/>
        </p:nvSpPr>
        <p:spPr>
          <a:xfrm>
            <a:off x="4754880" y="1143000"/>
            <a:ext cx="40233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</p:sp>
      <p:sp>
        <p:nvSpPr>
          <p:cNvPr id="9" name="MetricsBar"/>
          <p:cNvSpPr/>
          <p:nvPr/>
        </p:nvSpPr>
        <p:spPr>
          <a:xfrm>
            <a:off x="4754880" y="1143000"/>
            <a:ext cx="73152" cy="3657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</a:ln>
        </p:spPr>
      </p:sp>
      <p:sp>
        <p:nvSpPr>
          <p:cNvPr id="10" name="MetricsContent"/>
          <p:cNvSpPr/>
          <p:nvPr/>
        </p:nvSpPr>
        <p:spPr>
          <a:xfrm>
            <a:off x="4900800" y="1188720"/>
            <a:ext cx="3840480" cy="3566880"/>
          </a:xfrm>
          <a:prstGeom prst="rect">
            <a:avLst/>
          </a:prstGeom>
          <a:noFill/>
          <a:ln/>
        </p:spPr>
        <p:txBody>
          <a:bodyPr wrap="square" lIns="0" tIns="9144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</a:rPr>
              <a:t>SUCCESS METRICS</a:t>
            </a:r>
          </a:p>
          <a:p>
            <a:pPr marL="0" indent="0">
              <a:buNone/>
            </a:pPr>
            <a:r>
              <a:rPr lang="en-US" sz="200" dirty="0">
                <a:solidFill>
                  <a:srgbClr val="FFFFFF"/>
                </a:solidFill>
              </a:rPr>
              <a:t> </a:t>
            </a:r>
          </a:p>
          <a:p>
            <a:pPr marL="228600" indent="-228600">
              <a:buChar char="✓"/>
            </a:pPr>
            <a:r>
              <a:rPr lang="en-US" sz="1100" dirty="0">
                <a:solidFill>
                  <a:srgbClr val="0A1628"/>
                </a:solidFill>
              </a:rPr>
              <a:t>CSV upload to categorized results works correctly</a:t>
            </a:r>
          </a:p>
          <a:p>
            <a:pPr marL="228600" indent="-228600">
              <a:buChar char="✓"/>
            </a:pPr>
            <a:r>
              <a:rPr lang="en-US" sz="1100" dirty="0">
                <a:solidFill>
                  <a:srgbClr val="0A1628"/>
                </a:solidFill>
              </a:rPr>
              <a:t>Transactions categorized using rule-based logic</a:t>
            </a:r>
          </a:p>
          <a:p>
            <a:pPr marL="228600" indent="-228600">
              <a:buChar char="✓"/>
            </a:pPr>
            <a:r>
              <a:rPr lang="en-US" sz="1100" dirty="0">
                <a:solidFill>
                  <a:srgbClr val="0A1628"/>
                </a:solidFill>
              </a:rPr>
              <a:t>Income and expenses calculated accurately</a:t>
            </a:r>
          </a:p>
          <a:p>
            <a:pPr marL="228600" indent="-228600">
              <a:buChar char="✓"/>
            </a:pPr>
            <a:r>
              <a:rPr lang="en-US" sz="1100" dirty="0">
                <a:solidFill>
                  <a:srgbClr val="0A1628"/>
                </a:solidFill>
              </a:rPr>
              <a:t>Category-wise summaries generated correctly</a:t>
            </a:r>
          </a:p>
          <a:p>
            <a:pPr marL="228600" indent="-228600">
              <a:buChar char="✓"/>
            </a:pPr>
            <a:r>
              <a:rPr lang="en-US" sz="1100" dirty="0">
                <a:solidFill>
                  <a:srgbClr val="0A1628"/>
                </a:solidFill>
              </a:rPr>
              <a:t>UI and APIs are integrated and functional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g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32004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</p:sp>
      <p:sp>
        <p:nvSpPr>
          <p:cNvPr id="4" name="Title"/>
          <p:cNvSpPr/>
          <p:nvPr/>
        </p:nvSpPr>
        <p:spPr>
          <a:xfrm>
            <a:off x="54864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FLOW — CSV TRANSACTION PROCESSING</a:t>
            </a:r>
          </a:p>
        </p:txBody>
      </p:sp>
      <p:sp>
        <p:nvSpPr>
          <p:cNvPr id="5" name="Sec1Label"/>
          <p:cNvSpPr/>
          <p:nvPr/>
        </p:nvSpPr>
        <p:spPr>
          <a:xfrm>
            <a:off x="365760" y="960120"/>
            <a:ext cx="1280160" cy="228600"/>
          </a:xfrm>
          <a:prstGeom prst="rect">
            <a:avLst/>
          </a:prstGeom>
          <a:solidFill>
            <a:srgbClr val="1E3A5F"/>
          </a:solidFill>
          <a:ln w="9525">
            <a:solidFill>
              <a:srgbClr val="4A90D9"/>
            </a:solidFill>
          </a:ln>
        </p:spPr>
        <p:txBody>
          <a:bodyPr wrap="square" lIns="91440" tIns="0" rIns="91440" bIns="0" rtlCol="0" anchor="ctr"/>
          <a:lstStyle/>
          <a:p>
            <a:pPr algn="ctr">
              <a:buNone/>
            </a:pPr>
            <a:r>
              <a:rPr lang="en-US" sz="700" b="1" dirty="0">
                <a:solidFill>
                  <a:srgbClr val="4A90D9"/>
                </a:solidFill>
              </a:rPr>
              <a:t>FILE PROCESSING</a:t>
            </a:r>
          </a:p>
        </p:txBody>
      </p:sp>
      <p:sp>
        <p:nvSpPr>
          <p:cNvPr id="6" name="Start"/>
          <p:cNvSpPr/>
          <p:nvPr/>
        </p:nvSpPr>
        <p:spPr>
          <a:xfrm>
            <a:off x="365760" y="1234440"/>
            <a:ext cx="68580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4A90D9"/>
            </a:solidFill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7" name="Arr1"/>
          <p:cNvSpPr/>
          <p:nvPr/>
        </p:nvSpPr>
        <p:spPr>
          <a:xfrm>
            <a:off x="1097280" y="1417320"/>
            <a:ext cx="274320" cy="45720"/>
          </a:xfrm>
          <a:prstGeom prst="rightArrow">
            <a:avLst/>
          </a:prstGeom>
          <a:solidFill>
            <a:srgbClr val="4A90D9"/>
          </a:solidFill>
          <a:ln w="0">
            <a:noFill/>
          </a:ln>
        </p:spPr>
      </p:sp>
      <p:sp>
        <p:nvSpPr>
          <p:cNvPr id="8" name="Box1"/>
          <p:cNvSpPr/>
          <p:nvPr/>
        </p:nvSpPr>
        <p:spPr>
          <a:xfrm>
            <a:off x="1417320" y="1234440"/>
            <a:ext cx="1188720" cy="411480"/>
          </a:xfrm>
          <a:prstGeom prst="rect">
            <a:avLst/>
          </a:prstGeom>
          <a:solidFill>
            <a:srgbClr val="1A2E4A"/>
          </a:solidFill>
          <a:ln w="9525">
            <a:solidFill>
              <a:srgbClr val="4A90D9"/>
            </a:solidFill>
          </a:ln>
        </p:spPr>
        <p:txBody>
          <a:bodyPr wrap="square" lIns="91440" tIns="0" rIns="9144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Upload CSV File</a:t>
            </a:r>
          </a:p>
        </p:txBody>
      </p:sp>
      <p:sp>
        <p:nvSpPr>
          <p:cNvPr id="9" name="Arr2"/>
          <p:cNvSpPr/>
          <p:nvPr/>
        </p:nvSpPr>
        <p:spPr>
          <a:xfrm>
            <a:off x="2651520" y="1417320"/>
            <a:ext cx="274320" cy="45720"/>
          </a:xfrm>
          <a:prstGeom prst="rightArrow">
            <a:avLst/>
          </a:prstGeom>
          <a:solidFill>
            <a:srgbClr val="4A90D9"/>
          </a:solidFill>
          <a:ln w="0">
            <a:noFill/>
          </a:ln>
        </p:spPr>
      </p:sp>
      <p:sp>
        <p:nvSpPr>
          <p:cNvPr id="10" name="Box2"/>
          <p:cNvSpPr/>
          <p:nvPr/>
        </p:nvSpPr>
        <p:spPr>
          <a:xfrm>
            <a:off x="2971800" y="1234440"/>
            <a:ext cx="1188720" cy="411480"/>
          </a:xfrm>
          <a:prstGeom prst="rect">
            <a:avLst/>
          </a:prstGeom>
          <a:solidFill>
            <a:srgbClr val="1A2E4A"/>
          </a:solidFill>
          <a:ln w="9525">
            <a:solidFill>
              <a:srgbClr val="4A90D9"/>
            </a:solidFill>
          </a:ln>
        </p:spPr>
        <p:txBody>
          <a:bodyPr wrap="square" lIns="91440" tIns="0" rIns="9144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Parse CSV Data</a:t>
            </a:r>
          </a:p>
        </p:txBody>
      </p:sp>
      <p:sp>
        <p:nvSpPr>
          <p:cNvPr id="11" name="Arr3"/>
          <p:cNvSpPr/>
          <p:nvPr/>
        </p:nvSpPr>
        <p:spPr>
          <a:xfrm>
            <a:off x="4206000" y="1417320"/>
            <a:ext cx="274320" cy="45720"/>
          </a:xfrm>
          <a:prstGeom prst="rightArrow">
            <a:avLst/>
          </a:prstGeom>
          <a:solidFill>
            <a:srgbClr val="4A90D9"/>
          </a:solidFill>
          <a:ln w="0">
            <a:noFill/>
          </a:ln>
        </p:spPr>
      </p:sp>
      <p:sp>
        <p:nvSpPr>
          <p:cNvPr id="12" name="Box3"/>
          <p:cNvSpPr/>
          <p:nvPr/>
        </p:nvSpPr>
        <p:spPr>
          <a:xfrm>
            <a:off x="4526280" y="1188720"/>
            <a:ext cx="1188720" cy="502920"/>
          </a:xfrm>
          <a:prstGeom prst="rect">
            <a:avLst/>
          </a:prstGeom>
          <a:solidFill>
            <a:srgbClr val="1A2E4A"/>
          </a:solidFill>
          <a:ln w="9525">
            <a:solidFill>
              <a:srgbClr val="4A90D9"/>
            </a:solidFill>
          </a:ln>
        </p:spPr>
        <p:txBody>
          <a:bodyPr wrap="square" lIns="91440" tIns="0" rIns="9144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Clean Transaction</a:t>
            </a:r>
          </a:p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3" name="Sec2Label"/>
          <p:cNvSpPr/>
          <p:nvPr/>
        </p:nvSpPr>
        <p:spPr>
          <a:xfrm>
            <a:off x="365760" y="2057400"/>
            <a:ext cx="1508760" cy="228600"/>
          </a:xfrm>
          <a:prstGeom prst="rect">
            <a:avLst/>
          </a:prstGeom>
          <a:solidFill>
            <a:srgbClr val="2A1A00"/>
          </a:solidFill>
          <a:ln w="9525">
            <a:solidFill>
              <a:srgbClr val="D97706"/>
            </a:solidFill>
          </a:ln>
        </p:spPr>
        <p:txBody>
          <a:bodyPr wrap="square" lIns="91440" tIns="0" rIns="91440" bIns="0" rtlCol="0" anchor="ctr"/>
          <a:lstStyle/>
          <a:p>
            <a:pPr algn="ctr">
              <a:buNone/>
            </a:pPr>
            <a:r>
              <a:rPr lang="en-US" sz="700" b="1" dirty="0">
                <a:solidFill>
                  <a:srgbClr val="D97706"/>
                </a:solidFill>
              </a:rPr>
              <a:t>CATEGORIZATION</a:t>
            </a:r>
          </a:p>
        </p:txBody>
      </p:sp>
      <p:sp>
        <p:nvSpPr>
          <p:cNvPr id="14" name="Diamond"/>
          <p:cNvSpPr/>
          <p:nvPr/>
        </p:nvSpPr>
        <p:spPr>
          <a:xfrm>
            <a:off x="365760" y="2331720"/>
            <a:ext cx="776160" cy="548640"/>
          </a:xfrm>
          <a:prstGeom prst="diamond">
            <a:avLst/>
          </a:prstGeom>
          <a:solidFill>
            <a:srgbClr val="1A2E4A"/>
          </a:solidFill>
          <a:ln w="9525">
            <a:solidFill>
              <a:srgbClr val="D97706"/>
            </a:solidFill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Keyword</a:t>
            </a:r>
          </a:p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Match?</a:t>
            </a:r>
          </a:p>
        </p:txBody>
      </p:sp>
      <p:sp>
        <p:nvSpPr>
          <p:cNvPr id="15" name="YesArr"/>
          <p:cNvSpPr/>
          <p:nvPr/>
        </p:nvSpPr>
        <p:spPr>
          <a:xfrm>
            <a:off x="1188720" y="2560320"/>
            <a:ext cx="274320" cy="45720"/>
          </a:xfrm>
          <a:prstGeom prst="rightArrow">
            <a:avLst/>
          </a:prstGeom>
          <a:solidFill>
            <a:srgbClr val="0D9488"/>
          </a:solidFill>
          <a:ln w="0">
            <a:noFill/>
          </a:ln>
        </p:spPr>
      </p:sp>
      <p:sp>
        <p:nvSpPr>
          <p:cNvPr id="16" name="YesLbl"/>
          <p:cNvSpPr/>
          <p:nvPr/>
        </p:nvSpPr>
        <p:spPr>
          <a:xfrm>
            <a:off x="1188720" y="24699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0D9488"/>
                </a:solidFill>
              </a:rPr>
              <a:t>Yes</a:t>
            </a:r>
          </a:p>
        </p:txBody>
      </p:sp>
      <p:sp>
        <p:nvSpPr>
          <p:cNvPr id="17" name="AssignCat"/>
          <p:cNvSpPr/>
          <p:nvPr/>
        </p:nvSpPr>
        <p:spPr>
          <a:xfrm>
            <a:off x="1508760" y="2377440"/>
            <a:ext cx="1188720" cy="411480"/>
          </a:xfrm>
          <a:prstGeom prst="rect">
            <a:avLst/>
          </a:prstGeom>
          <a:solidFill>
            <a:srgbClr val="0D4A3A"/>
          </a:solidFill>
          <a:ln w="9525">
            <a:solidFill>
              <a:srgbClr val="0D9488"/>
            </a:solidFill>
          </a:ln>
        </p:spPr>
        <p:txBody>
          <a:bodyPr wrap="square" lIns="91440" tIns="0" rIns="9144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Assign Category</a:t>
            </a:r>
          </a:p>
        </p:txBody>
      </p:sp>
      <p:sp>
        <p:nvSpPr>
          <p:cNvPr id="18" name="NoArr"/>
          <p:cNvSpPr/>
          <p:nvPr/>
        </p:nvSpPr>
        <p:spPr>
          <a:xfrm>
            <a:off x="1188720" y="2834640"/>
            <a:ext cx="274320" cy="45720"/>
          </a:xfrm>
          <a:prstGeom prst="rightArrow">
            <a:avLst/>
          </a:prstGeom>
          <a:solidFill>
            <a:srgbClr val="94A3B8"/>
          </a:solidFill>
          <a:ln w="0">
            <a:noFill/>
          </a:ln>
        </p:spPr>
      </p:sp>
      <p:sp>
        <p:nvSpPr>
          <p:cNvPr id="19" name="NoLbl"/>
          <p:cNvSpPr/>
          <p:nvPr/>
        </p:nvSpPr>
        <p:spPr>
          <a:xfrm>
            <a:off x="1188720" y="27433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800" b="1" dirty="0">
                <a:solidFill>
                  <a:srgbClr val="94A3B8"/>
                </a:solidFill>
              </a:rPr>
              <a:t>No</a:t>
            </a:r>
          </a:p>
        </p:txBody>
      </p:sp>
      <p:sp>
        <p:nvSpPr>
          <p:cNvPr id="20" name="AssignOther"/>
          <p:cNvSpPr/>
          <p:nvPr/>
        </p:nvSpPr>
        <p:spPr>
          <a:xfrm>
            <a:off x="1508760" y="2697120"/>
            <a:ext cx="1188720" cy="411480"/>
          </a:xfrm>
          <a:prstGeom prst="rect">
            <a:avLst/>
          </a:prstGeom>
          <a:solidFill>
            <a:srgbClr val="2A2A2A"/>
          </a:solidFill>
          <a:ln w="9525">
            <a:solidFill>
              <a:srgbClr val="64748B"/>
            </a:solidFill>
          </a:ln>
        </p:spPr>
        <p:txBody>
          <a:bodyPr wrap="square" lIns="91440" tIns="0" rIns="9144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CCCCCC"/>
                </a:solidFill>
              </a:rPr>
              <a:t>Assign Other</a:t>
            </a:r>
          </a:p>
        </p:txBody>
      </p:sp>
      <p:sp>
        <p:nvSpPr>
          <p:cNvPr id="21" name="Sec3Label"/>
          <p:cNvSpPr/>
          <p:nvPr/>
        </p:nvSpPr>
        <p:spPr>
          <a:xfrm>
            <a:off x="3200400" y="2057400"/>
            <a:ext cx="1966800" cy="228600"/>
          </a:xfrm>
          <a:prstGeom prst="rect">
            <a:avLst/>
          </a:prstGeom>
          <a:solidFill>
            <a:srgbClr val="1A0A2E"/>
          </a:solidFill>
          <a:ln w="9525">
            <a:solidFill>
              <a:srgbClr val="9B59B6"/>
            </a:solidFill>
          </a:ln>
        </p:spPr>
        <p:txBody>
          <a:bodyPr wrap="square" lIns="91440" tIns="0" rIns="91440" bIns="0" rtlCol="0" anchor="ctr"/>
          <a:lstStyle/>
          <a:p>
            <a:pPr algn="ctr">
              <a:buNone/>
            </a:pPr>
            <a:r>
              <a:rPr lang="en-US" sz="700" b="1" dirty="0">
                <a:solidFill>
                  <a:srgbClr val="9B59B6"/>
                </a:solidFill>
              </a:rPr>
              <a:t>DATA STORAGE AND ANALYSIS</a:t>
            </a:r>
          </a:p>
        </p:txBody>
      </p:sp>
      <p:sp>
        <p:nvSpPr>
          <p:cNvPr id="22" name="Arr4"/>
          <p:cNvSpPr/>
          <p:nvPr/>
        </p:nvSpPr>
        <p:spPr>
          <a:xfrm>
            <a:off x="2743200" y="2560320"/>
            <a:ext cx="365760" cy="45720"/>
          </a:xfrm>
          <a:prstGeom prst="rightArrow">
            <a:avLst/>
          </a:prstGeom>
          <a:solidFill>
            <a:srgbClr val="9B59B6"/>
          </a:solidFill>
          <a:ln w="0">
            <a:noFill/>
          </a:ln>
        </p:spPr>
      </p:sp>
      <p:sp>
        <p:nvSpPr>
          <p:cNvPr id="23" name="StoreDB"/>
          <p:cNvSpPr/>
          <p:nvPr/>
        </p:nvSpPr>
        <p:spPr>
          <a:xfrm>
            <a:off x="3155040" y="2377440"/>
            <a:ext cx="1188720" cy="411480"/>
          </a:xfrm>
          <a:prstGeom prst="rect">
            <a:avLst/>
          </a:prstGeom>
          <a:solidFill>
            <a:srgbClr val="1A0A2E"/>
          </a:solidFill>
          <a:ln w="9525">
            <a:solidFill>
              <a:srgbClr val="9B59B6"/>
            </a:solidFill>
          </a:ln>
        </p:spPr>
        <p:txBody>
          <a:bodyPr wrap="square" lIns="91440" tIns="0" rIns="9144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Store in Database</a:t>
            </a:r>
          </a:p>
        </p:txBody>
      </p:sp>
      <p:sp>
        <p:nvSpPr>
          <p:cNvPr id="24" name="Arr5"/>
          <p:cNvSpPr/>
          <p:nvPr/>
        </p:nvSpPr>
        <p:spPr>
          <a:xfrm>
            <a:off x="4389480" y="2560320"/>
            <a:ext cx="274320" cy="45720"/>
          </a:xfrm>
          <a:prstGeom prst="rightArrow">
            <a:avLst/>
          </a:prstGeom>
          <a:solidFill>
            <a:srgbClr val="9B59B6"/>
          </a:solidFill>
          <a:ln w="0">
            <a:noFill/>
          </a:ln>
        </p:spPr>
      </p:sp>
      <p:sp>
        <p:nvSpPr>
          <p:cNvPr id="25" name="CalcBox"/>
          <p:cNvSpPr/>
          <p:nvPr/>
        </p:nvSpPr>
        <p:spPr>
          <a:xfrm>
            <a:off x="4709160" y="2286000"/>
            <a:ext cx="1188720" cy="548640"/>
          </a:xfrm>
          <a:prstGeom prst="rect">
            <a:avLst/>
          </a:prstGeom>
          <a:solidFill>
            <a:srgbClr val="1A0A2E"/>
          </a:solidFill>
          <a:ln w="9525">
            <a:solidFill>
              <a:srgbClr val="9B59B6"/>
            </a:solidFill>
          </a:ln>
        </p:spPr>
        <p:txBody>
          <a:bodyPr wrap="square" lIns="91440" tIns="0" rIns="9144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Calculate Income</a:t>
            </a:r>
          </a:p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&amp; Expenses</a:t>
            </a:r>
          </a:p>
        </p:txBody>
      </p:sp>
      <p:sp>
        <p:nvSpPr>
          <p:cNvPr id="26" name="Arr6"/>
          <p:cNvSpPr/>
          <p:nvPr/>
        </p:nvSpPr>
        <p:spPr>
          <a:xfrm>
            <a:off x="5943360" y="2560320"/>
            <a:ext cx="274320" cy="45720"/>
          </a:xfrm>
          <a:prstGeom prst="rightArrow">
            <a:avLst/>
          </a:prstGeom>
          <a:solidFill>
            <a:srgbClr val="9B59B6"/>
          </a:solidFill>
          <a:ln w="0">
            <a:noFill/>
          </a:ln>
        </p:spPr>
      </p:sp>
      <p:sp>
        <p:nvSpPr>
          <p:cNvPr id="27" name="GenCat"/>
          <p:cNvSpPr/>
          <p:nvPr/>
        </p:nvSpPr>
        <p:spPr>
          <a:xfrm>
            <a:off x="6263040" y="2286000"/>
            <a:ext cx="1280160" cy="548640"/>
          </a:xfrm>
          <a:prstGeom prst="rect">
            <a:avLst/>
          </a:prstGeom>
          <a:solidFill>
            <a:srgbClr val="1A0A2E"/>
          </a:solidFill>
          <a:ln w="9525">
            <a:solidFill>
              <a:srgbClr val="9B59B6"/>
            </a:solidFill>
          </a:ln>
        </p:spPr>
        <p:txBody>
          <a:bodyPr wrap="square" lIns="91440" tIns="0" rIns="9144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Generate Category</a:t>
            </a:r>
          </a:p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28" name="Sec4Label"/>
          <p:cNvSpPr/>
          <p:nvPr/>
        </p:nvSpPr>
        <p:spPr>
          <a:xfrm>
            <a:off x="365760" y="3337560"/>
            <a:ext cx="1097280" cy="228600"/>
          </a:xfrm>
          <a:prstGeom prst="rect">
            <a:avLst/>
          </a:prstGeom>
          <a:solidFill>
            <a:srgbClr val="003A1A"/>
          </a:solidFill>
          <a:ln w="9525">
            <a:solidFill>
              <a:srgbClr val="059669"/>
            </a:solidFill>
          </a:ln>
        </p:spPr>
        <p:txBody>
          <a:bodyPr wrap="square" lIns="91440" tIns="0" rIns="91440" bIns="0" rtlCol="0" anchor="ctr"/>
          <a:lstStyle/>
          <a:p>
            <a:pPr algn="ctr">
              <a:buNone/>
            </a:pPr>
            <a:r>
              <a:rPr lang="en-US" sz="700" b="1" dirty="0">
                <a:solidFill>
                  <a:srgbClr val="059669"/>
                </a:solidFill>
              </a:rPr>
              <a:t>OUTPUT</a:t>
            </a:r>
          </a:p>
        </p:txBody>
      </p:sp>
      <p:sp>
        <p:nvSpPr>
          <p:cNvPr id="29" name="Dashboard"/>
          <p:cNvSpPr/>
          <p:nvPr/>
        </p:nvSpPr>
        <p:spPr>
          <a:xfrm>
            <a:off x="365760" y="3612240"/>
            <a:ext cx="1280160" cy="411480"/>
          </a:xfrm>
          <a:prstGeom prst="rect">
            <a:avLst/>
          </a:prstGeom>
          <a:solidFill>
            <a:srgbClr val="003A1A"/>
          </a:solidFill>
          <a:ln w="9525">
            <a:solidFill>
              <a:srgbClr val="059669"/>
            </a:solidFill>
          </a:ln>
        </p:spPr>
        <p:txBody>
          <a:bodyPr wrap="square" lIns="91440" tIns="0" rIns="9144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Display Dashboard</a:t>
            </a:r>
          </a:p>
        </p:txBody>
      </p:sp>
      <p:sp>
        <p:nvSpPr>
          <p:cNvPr id="30" name="Arr7"/>
          <p:cNvSpPr/>
          <p:nvPr/>
        </p:nvSpPr>
        <p:spPr>
          <a:xfrm>
            <a:off x="1691640" y="3795120"/>
            <a:ext cx="274320" cy="45720"/>
          </a:xfrm>
          <a:prstGeom prst="rightArrow">
            <a:avLst/>
          </a:prstGeom>
          <a:solidFill>
            <a:srgbClr val="059669"/>
          </a:solidFill>
          <a:ln w="0">
            <a:noFill/>
          </a:ln>
        </p:spPr>
      </p:sp>
      <p:sp>
        <p:nvSpPr>
          <p:cNvPr id="31" name="Download"/>
          <p:cNvSpPr/>
          <p:nvPr/>
        </p:nvSpPr>
        <p:spPr>
          <a:xfrm>
            <a:off x="2011680" y="3612240"/>
            <a:ext cx="1280160" cy="411480"/>
          </a:xfrm>
          <a:prstGeom prst="rect">
            <a:avLst/>
          </a:prstGeom>
          <a:solidFill>
            <a:srgbClr val="003A1A"/>
          </a:solidFill>
          <a:ln w="9525">
            <a:solidFill>
              <a:srgbClr val="059669"/>
            </a:solidFill>
          </a:ln>
        </p:spPr>
        <p:txBody>
          <a:bodyPr wrap="square" lIns="91440" tIns="0" rIns="91440" bIns="0" rtlCol="0" anchor="ctr"/>
          <a:lstStyle/>
          <a:p>
            <a:pPr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Download Report</a:t>
            </a:r>
          </a:p>
        </p:txBody>
      </p:sp>
      <p:sp>
        <p:nvSpPr>
          <p:cNvPr id="32" name="Arr8"/>
          <p:cNvSpPr/>
          <p:nvPr/>
        </p:nvSpPr>
        <p:spPr>
          <a:xfrm>
            <a:off x="3337560" y="3795120"/>
            <a:ext cx="274320" cy="45720"/>
          </a:xfrm>
          <a:prstGeom prst="rightArrow">
            <a:avLst/>
          </a:prstGeom>
          <a:solidFill>
            <a:srgbClr val="059669"/>
          </a:solidFill>
          <a:ln w="0">
            <a:noFill/>
          </a:ln>
        </p:spPr>
      </p:sp>
      <p:sp>
        <p:nvSpPr>
          <p:cNvPr id="33" name="End"/>
          <p:cNvSpPr/>
          <p:nvPr/>
        </p:nvSpPr>
        <p:spPr>
          <a:xfrm>
            <a:off x="3657600" y="3612240"/>
            <a:ext cx="68580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End</a:t>
            </a:r>
          </a:p>
        </p:txBody>
      </p:sp>
      <p:sp>
        <p:nvSpPr>
          <p:cNvPr id="34" name="VConn1"/>
          <p:cNvSpPr/>
          <p:nvPr/>
        </p:nvSpPr>
        <p:spPr>
          <a:xfrm rot="5400000">
            <a:off x="753480" y="1691640"/>
            <a:ext cx="274320" cy="45720"/>
          </a:xfrm>
          <a:prstGeom prst="rightArrow">
            <a:avLst/>
          </a:prstGeom>
          <a:solidFill>
            <a:srgbClr val="4A90D9"/>
          </a:solidFill>
          <a:ln w="0">
            <a:noFill/>
          </a:ln>
        </p:spPr>
      </p:sp>
      <p:sp>
        <p:nvSpPr>
          <p:cNvPr id="35" name="VConn2"/>
          <p:cNvSpPr/>
          <p:nvPr/>
        </p:nvSpPr>
        <p:spPr>
          <a:xfrm rot="5400000">
            <a:off x="6903120" y="2880360"/>
            <a:ext cx="548640" cy="45720"/>
          </a:xfrm>
          <a:prstGeom prst="rightArrow">
            <a:avLst/>
          </a:prstGeom>
          <a:solidFill>
            <a:srgbClr val="9B59B6"/>
          </a:solidFill>
          <a:ln w="0"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202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192024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DATA SOURCE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737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</a:rPr>
              <a:t>CSV File (date, description,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</a:rPr>
              <a:t>amount, type) uploaded by user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2697480"/>
            <a:ext cx="228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9152" y="259689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188720"/>
            <a:ext cx="19202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188720"/>
            <a:ext cx="19202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PROCESSING LAYER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06040" y="1600200"/>
            <a:ext cx="1737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</a:rPr>
              <a:t>Python Backend (Flask/FastAPI)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</a:rPr>
              <a:t>Keyword Matching + Rule Engine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2697480"/>
            <a:ext cx="228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7992" y="259689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19202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188720"/>
            <a:ext cx="192024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DATA STORE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0" y="1600200"/>
            <a:ext cx="1737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</a:rPr>
              <a:t>RDBMS (PostgreSQL / SQLite)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</a:rPr>
              <a:t>Transactions + Categories DB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2697480"/>
            <a:ext cx="2286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259689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12280" y="1188720"/>
            <a:ext cx="19202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12280" y="1188720"/>
            <a:ext cx="192024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INSIGHTS + OUTPUT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03720" y="1600200"/>
            <a:ext cx="1737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</a:rPr>
              <a:t>Income vs Expense · Category Totals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</a:rPr>
              <a:t>Summary Dashboard · REST APIs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DATABASE DESIGN — KEY TABLES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73152" cy="8046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243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transactions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" y="15361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txn_id, date, description, amount, type, category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4114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48840"/>
            <a:ext cx="7315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22037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categories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249631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category_id, name, keyword_list, type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4114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108960"/>
            <a:ext cx="73152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3163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financial_report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" y="34564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report_id, total_income, total_expense, top_category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4069080"/>
            <a:ext cx="4114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069080"/>
            <a:ext cx="73152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41239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monthly_summary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" y="441655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month, income, expense, savings, top_spending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1188720"/>
            <a:ext cx="4114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1188720"/>
            <a:ext cx="7315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5464" y="1243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category_summary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55464" y="153619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summary_id, category, total_amount, txn_count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2148840"/>
            <a:ext cx="4114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148840"/>
            <a:ext cx="7315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5464" y="22037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upload_log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55464" y="249631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upload_id, filename, upload_time, row_count, status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3108960"/>
            <a:ext cx="411480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3108960"/>
            <a:ext cx="73152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55464" y="3163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keyword_rules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55464" y="34564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rule_id, keyword, maps_to_category, priority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FINAL DELIVERABLES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8016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</a:rPr>
              <a:t>Working CSV upload and categorization logic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28216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81965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19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1728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</a:rPr>
              <a:t>Clean database with transactions &amp; categories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267712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35915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226771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</a:rPr>
              <a:t>Accurate income &amp; expense calculations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807208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89864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98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280720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</a:rPr>
              <a:t>Category-wise summaries generated correctly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346704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43814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334670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</a:rPr>
              <a:t>Functional UI connected to REST APIs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3886200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97764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" y="3886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</a:rPr>
              <a:t>Clear reporting dashboard with insights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4425696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51713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517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14400" y="442569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</a:rPr>
              <a:t>GitHub repository with code, data &amp; demo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</a:rPr>
              <a:t>Thank You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</a:rPr>
              <a:t>Smart Expense Categorization &amp; Finance Insight Platform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2926080"/>
            <a:ext cx="54864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08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Muskan Aggarwal  ·  Shikhar Srivastava  ·  Priyanshu Singhal  ·  Madhevandra Rao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By Tech Titans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538</Words>
  <Application>Microsoft Office PowerPoint</Application>
  <PresentationFormat>On-screen Show (16:9)</PresentationFormat>
  <Paragraphs>134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HCL Retail Data Processing Hackathon</dc:title>
  <dc:subject>PptxGenJS Presentation</dc:subject>
  <dc:creator>PptxGenJS</dc:creator>
  <cp:lastModifiedBy>muskan aggarwal</cp:lastModifiedBy>
  <cp:revision>4</cp:revision>
  <dcterms:created xsi:type="dcterms:W3CDTF">2026-04-11T11:43:53Z</dcterms:created>
  <dcterms:modified xsi:type="dcterms:W3CDTF">2026-04-13T08:04:14Z</dcterms:modified>
</cp:coreProperties>
</file>